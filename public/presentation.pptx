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0" cy="4229100"/>
          </a:xfrm>
          <a:prstGeom prst="roundRect">
            <a:avLst>
              <a:gd name="adj" fmla="val 3243"/>
            </a:avLst>
          </a:prstGeom>
          <a:solidFill>
            <a:srgbClr val="0D1525"/>
          </a:solidFill>
          <a:ln w="19050">
            <a:solidFill>
              <a:srgbClr val="1E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731520"/>
            <a:ext cx="4572000" cy="292608"/>
          </a:xfrm>
          <a:prstGeom prst="roundRect">
            <a:avLst>
              <a:gd name="adj" fmla="val 31250"/>
            </a:avLst>
          </a:prstGeom>
          <a:solidFill>
            <a:srgbClr val="16253D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731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ПРОИЗВОДСТВЕННАЯ ПРАКТИКА ПО ТРПО • РЕЛИЗ v1.0.0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Интерактивное веб-приложение для 3D-визуализации орбитального движения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искусственных спутников Земли и космических миссий в реальном времени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514600"/>
            <a:ext cx="6949440" cy="1234440"/>
          </a:xfrm>
          <a:prstGeom prst="roundRect">
            <a:avLst>
              <a:gd name="adj" fmla="val 7407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60604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Выполнил: </a:t>
            </a:r>
            <a:pPr algn="ctr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Шинин Чаян
</a:t>
            </a:r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 </a:t>
            </a:r>
            <a:pPr algn="ctr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ИСП-43 (ИСП-401) • Специальность 09.02.07
</a:t>
            </a:r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Дисциплина: </a:t>
            </a:r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разработки программного обеспечения (ТРПО)
</a:t>
            </a:r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Руководитель: </a:t>
            </a:r>
            <a:pPr algn="ctr"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Егоров Роман • Октябрь 2026 г.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97280" y="388620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41E30"/>
          </a:solidFill>
          <a:ln w="12700">
            <a:solidFill>
              <a:srgbClr val="2030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9319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22 PASS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22452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Vitest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80360" y="388620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41E30"/>
          </a:solidFill>
          <a:ln w="12700">
            <a:solidFill>
              <a:srgbClr val="20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39319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FPS WebGL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422452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Рендеринг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388620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41E30"/>
          </a:solidFill>
          <a:ln w="12700">
            <a:solidFill>
              <a:srgbClr val="2030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9319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SGP4 / SDP4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422452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Баллистика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46520" y="388620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141E30"/>
          </a:solidFill>
          <a:ln w="12700">
            <a:solidFill>
              <a:srgbClr val="20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9319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/ 100 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422452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ПРЕДМЕТНОЙ ОБЛАСТИ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и актуальность проекта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двумерные карты больше не подходят для современной космонавтики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2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3886200" cy="2286000"/>
          </a:xfrm>
          <a:prstGeom prst="roundRect">
            <a:avLst>
              <a:gd name="adj" fmla="val 4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087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ПРОБЛЕМЫ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3520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Искажения 2D-проекций: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Карты Меркатора искажают плоскости орбит, скрывая реальное наклонение, высоту перигея и апогея.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Экспоненциальный рост числа спутников: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орбите уже более 8 000 аппаратов (Starlink, OneWeb, ГЛОНАСС), что требует пространственного контроля.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Громоздкость существующих САПР: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Пакеты STK и GMAT требуют лицензий, тяжёлой установки и не работают мгновенно в веб-браузере.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371600"/>
            <a:ext cx="3886200" cy="2286000"/>
          </a:xfrm>
          <a:prstGeom prst="roundRect">
            <a:avLst>
              <a:gd name="adj" fmla="val 4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087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В ORBITWATCH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828800"/>
            <a:ext cx="3520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Мгновенный запуск в любом веб-браузере: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на любом ПК и ноутбуке без установки плагинов и лицензионных ограничений.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Прецизионная 3D-модель Земли и орбит: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Физически корректный расчёт траекторий по математическому стандарту SGP4/SDP4.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Образовательная и прикладная ценность: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 для студентов аэрокосмических специальностей, радиолюбителей и аналитиков.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31E30"/>
          </a:solidFill>
          <a:ln w="12700">
            <a:solidFill>
              <a:srgbClr val="2232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58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8 000+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Активных спутников в каталоге NORAD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379476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31E30"/>
          </a:solidFill>
          <a:ln w="12700">
            <a:solidFill>
              <a:srgbClr val="2232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858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40%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4206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Искажение наклонений на плоских 2D картах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35040" y="379476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31E30"/>
          </a:solidFill>
          <a:ln w="12700">
            <a:solidFill>
              <a:srgbClr val="2232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858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сек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5040" y="4206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развёртывания (чистый Web-доступ)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ЦЕЛЕПОЛАГАНИЕ И ТЗ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ключевые задачи проекта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Полнофункциональная разработка отказоустойчивой системы орбитальной визуализации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3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142236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44475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ЦЕЛЬ РАЗРАБОТКИ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16642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и внедрить полнофункциональное, отказоустойчивое веб-приложение для высокоточной 3D-визуализации околоземного космического пространства и трекинга траекторий искусственных спутников в реальном времени на базе математической модели SGP4.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688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1: Баллистический модуль SGP4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7249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SGP4/SDP4 для расчёта пространственных координат (TEME/ECEF) по TLE-строкам NASA/NORAD в любой момент времени.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2377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4688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2: Интерактивная 3D-сцена Three.js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7249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Земли с шейдерным атмосферным свечением, сменой дня и ночи по положению Солнца, отрисовкой орбит и трекингом камеры.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0" y="2377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4688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3: Синхронизация данных CelesTrak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27249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 свежих TLE-каталогов через Express Proxy с многоуровневым LocalStorage кэшированием и оффлайн-резервом.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6576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4: Автоматизированное тестирование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91363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набора тестов Vitest (22 теста, 100% PASS), CI GitHub Actions пайплайна и устранение магических чисел.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5661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6576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5: Комплект проектной документации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91363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User Guide, Install Guide, отчётов инспекции кода, метрик качества и дневников практики за 15 дней.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РОЛЕВАЯ МОДЕЛЬ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аудитория и роли пользователей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ключевых сценария взаимодействия с веб-приложением OrbitWatch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4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536192"/>
            <a:ext cx="2194560" cy="237744"/>
          </a:xfrm>
          <a:prstGeom prst="roundRect">
            <a:avLst>
              <a:gd name="adj" fmla="val 30769"/>
            </a:avLst>
          </a:prstGeom>
          <a:solidFill>
            <a:srgbClr val="162238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53619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ОБРАЗОВАТЕЛЬНАЯ РОЛЬ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Студент / Преподаватель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331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Наглядное изучение законов Кеплера и орбитальных элементов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Ускорение симуляции времени от 1x до 1000x для демонстрации витков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Понимание периодов обращения (92 мин для МКС, 12 ч для ГЛОНАСС)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Анализ пространственного разделения LEO, MEO и геостационара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536192"/>
            <a:ext cx="2194560" cy="237744"/>
          </a:xfrm>
          <a:prstGeom prst="roundRect">
            <a:avLst>
              <a:gd name="adj" fmla="val 30769"/>
            </a:avLst>
          </a:prstGeom>
          <a:solidFill>
            <a:srgbClr val="1622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53619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РОЛЬ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Радиолюбитель / Наблюдатель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331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Поиск спутников по номеру в каталоге NORAD (напр. 25544 для ISS)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Определение текущей подспутниковой точки (широта, долгота, высота)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Контроль орбитальной путевой скорости аппарата (км/с)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Подготовка к сеансам радиосвязи и приёма спутниковых данных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536192"/>
            <a:ext cx="2194560" cy="237744"/>
          </a:xfrm>
          <a:prstGeom prst="roundRect">
            <a:avLst>
              <a:gd name="adj" fmla="val 30769"/>
            </a:avLst>
          </a:prstGeom>
          <a:solidFill>
            <a:srgbClr val="162238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53619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ПРОФЕССИОНАЛЬНАЯ РОЛЬ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7220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Оператор миссий / Аналитик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33172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Мониторинг орбитальных группировок (Starlink, GPS, ГЛОНАСС)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Инспекция состава экипажей и пилотируемых миссий на орбите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Оценка пространственной плотности спутников на высотах 400–1200 км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Оперативная фильтрация космических аппаратов по категориям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ВОЗМОЖНОСТИ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Функциональная структура системы (MVP)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модули и пользовательские сценарии OrbitWatch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5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527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Интерактивный 3D-глобус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182880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Свободная камера (OrbitControls), плавное масштабирование, режим привязки камеры к спутнику (Track Satellite).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527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Живая телеметрия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Высота (км), скорость (км/с), широта, долгота, наклонение и период обращения с обновлением каждые 100 мс.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527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⏩  Машина времени (Time Warp)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Симуляция в реальном времени UTC, пауза и ускорение x10, x60, x300, x1000 для анализа будущих витков.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72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Многофакторный поиск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34747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 имени и NORAD ID, фильтры по категориям (станции, наука, навигация) и диапазонам орбит LEO/MEO/GEO.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172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👨‍🚀  Справочник миссий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34747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Интегрированный каталог активных космических экспедиций, пилотируемых кораблей и состава космонавтов.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172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Отказоустойчивый кэш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200" y="3474720"/>
            <a:ext cx="2286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Автономная цепочка CelesTrak API -&gt; LocalStorage кэш -&gt; встроенный оффлайн-набор спутников без сбоев.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И ПОЛЬЗОВАТЕЛЬСКИЙ ОПЫТ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 работы интерфейса (Live Demo)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Кинематографический рендеринг Земли и визуализация космических группировок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6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270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[01] 3D-панорама Земли и атмосфера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1527048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172338"/>
          </a:solidFill>
          <a:ln w="10160">
            <a:solidFill>
              <a:srgbClr val="00D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5270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Шейдерный рендеринг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31520" y="1819656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Текстура высокого разрешения с облачным слоем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Атмосферный шейдер свечения (Atmosphere Glow Shader)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Динамический терминатор (граница дня и ночи)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Астрономический расчёт положения Солнца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141732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5270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[02] Траектория МКС и трекинг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9480" y="1527048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17233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5270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Орбитальная баллистика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92040" y="1819656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Замкнутый эллипс орбиты высотой ~420 км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Маркер положения Международной Космической Станции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Плавный режим слежения камеры (Track Mode)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Вектор путевой скорости ~7.66 км/с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[03] Группировки сотен спутников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08960" y="3218688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172338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21868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Массовая визуализация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31520" y="3511296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Спутники связи Starlink и OneWeb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Навигационные группировки GPS и ГЛОНАСС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Цветовая дифференциация типов орбит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Стабильные 60 FPS при 200+ объектах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10896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2186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[04] Телеметрическая HUD-панель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269480" y="3218688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172338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321868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Реальное время (UTC)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92040" y="3511296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Высота над уровнем моря и орбитальная скорость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Географическая широта и долгота подспутниковой точки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Наклонение плоскости орбиты и период обращения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Обновление параметров каждые 100 мс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СИСТЕМНАЯ АРХИТЕКТУРА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приложения и стек технологий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Модульная структура на стеке React 18, TypeScript, Three.js и Express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7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4389120" cy="3154680"/>
          </a:xfrm>
          <a:prstGeom prst="roundRect">
            <a:avLst>
              <a:gd name="adj" fmla="val 2899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08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АРХИТЕКТУРНЫЕ СЛОИ СИСТЕМЫ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182880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41E31"/>
          </a:solidFill>
          <a:ln w="12700">
            <a:solidFill>
              <a:srgbClr val="20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88366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представления (UI / UX)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20665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• TypeScript 5 • Tailwind CSS • Lucide Icons — Компонентная модель, HUD-панели, фильтрация, модальные окна, режим защиты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" y="2487168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41E31"/>
          </a:solidFill>
          <a:ln w="12700">
            <a:solidFill>
              <a:srgbClr val="20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420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Графический 3D-движок (Visualization)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27249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• WebGL • Custom Atmosphere Shaders — Рендеринг глобуса, расчет терминатора, орбитальные эллипсы, частицы звезд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3145536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41E31"/>
          </a:solidFill>
          <a:ln w="12700">
            <a:solidFill>
              <a:srgbClr val="20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200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Баллистическое ядро (Math &amp; Ballistics)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3383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satellite.js (SGP4/SDP4) • astronomy.ts — Расчет координат TEME/ECEF по TLE, преобразование в декартову 3D-систему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1520" y="3803904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41E31"/>
          </a:solidFill>
          <a:ln w="12700">
            <a:solidFill>
              <a:srgbClr val="20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587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данных и отказоустойчивости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" y="40416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Backend Proxy • CelesTrak REST API • LocalStorage — Обход CORS, трехуровневое кэширование, обработка QuotaExceededError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20640" y="1371600"/>
            <a:ext cx="3474720" cy="3154680"/>
          </a:xfrm>
          <a:prstGeom prst="roundRect">
            <a:avLst>
              <a:gd name="adj" fmla="val 2899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508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ТЕХНОЛОГИЙ ПРОЕКТА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03520" y="182880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152033"/>
          </a:solidFill>
          <a:ln w="10160">
            <a:solidFill>
              <a:srgbClr val="2232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186537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&amp; TypeScript 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40680" y="202996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Строгая типизация без any, компонентная структура, хуки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303520" y="2258568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152033"/>
          </a:solidFill>
          <a:ln w="10160">
            <a:solidFill>
              <a:srgbClr val="2232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2295144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&amp; WebGL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40680" y="245973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Аппаратно-ускоренный рендеринг, кастомные GLSL шейдеры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303520" y="2688336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152033"/>
          </a:solidFill>
          <a:ln w="10160">
            <a:solidFill>
              <a:srgbClr val="2232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2724912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satellite.js (SGP4)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0680" y="2889504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баллистических расчетов NASA/NORAD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303520" y="3118104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152033"/>
          </a:solidFill>
          <a:ln w="10160">
            <a:solidFill>
              <a:srgbClr val="2232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315468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5 &amp; Vitest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0680" y="3319272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Мгновенная сборка и быстрый запуск автотестов за 0.8 с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303520" y="3547872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152033"/>
          </a:solidFill>
          <a:ln w="10160">
            <a:solidFill>
              <a:srgbClr val="2232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358444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40680" y="374904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Современная адаптивная стилизация интерфейса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303520" y="397764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152033"/>
          </a:solidFill>
          <a:ln w="10160">
            <a:solidFill>
              <a:srgbClr val="2232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4014216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Proxy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40680" y="4178808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Легковесный бэкенд для проксирования CelesTrak API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МАТЕМАТИЧЕСКИЙ АППАРАТ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Баллистическое ядро и математическая модель SGP4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Конвейер трансформации двухстрочных элементов TLE в трехмерные координаты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8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5270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1 • Входные данные TLE (NASA / NORAD)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527048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172338"/>
          </a:solidFill>
          <a:ln w="10160">
            <a:solidFill>
              <a:srgbClr val="00D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5270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Two-Line Element Set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85800" y="1819656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строки по 69 символов. Содержат эпоху, наклонение (i), прямое восхождение восходящего узла (RAAN), эксцентриситет (e), аргумент перигея (ω), среднее движение (n) и BSTAR-коэффициент аэродинамического торможения.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141732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270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2 • Алгоритм SGP4 / SDP4 (satellite.js)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1527048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172338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5270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 Coordinates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819656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Вычисление вектора положения r_TEME и вектора скорости v_TEME аппарата в геоцентрической инерциальной системе координат (True Equator, Mean Equinox) с учетом гравитационных возмущений геопотенциала Земли (J2, J3, J4).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186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3 • Преобразование в Greenwich ECEF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3218688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17233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21868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WGS-84 Geodetic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5800" y="3511296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Учет вращения Земли через звездное время по Гринвичу (GMST). Расчет геодезических координат подспутниковой точки: географическая широта (φ), долгота (λ) и высота над эллипсоидом (h в километрах).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10896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186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4 • Проекция в 3D-пространство Three.js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69480" y="3218688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172338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321868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Coordinates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46320" y="3511296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сферических координат в декартовы координаты сцены с радиусом Земли R = 10.0: X = (R + h*s)*cos(φ)*sin(λ), Y = (R + h*s)*sin(φ), Z = (R + h*s)*cos(φ)*cos(λ). Учет наклона земной оси 23.4°.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КАЧЕСТВА И CI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Автоматизированное тестирование (Vitest)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покрытие критических баллистических функций и пайплайн непрерывной интеграции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9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31E30"/>
          </a:solidFill>
          <a:ln w="12700">
            <a:solidFill>
              <a:srgbClr val="2232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44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22 PASS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17922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Успешно пройденных тестов (100%)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31E30"/>
          </a:solidFill>
          <a:ln w="12700">
            <a:solidFill>
              <a:srgbClr val="2232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44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0.835 сек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17922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выполнения всего набора тестов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31E30"/>
          </a:solidFill>
          <a:ln w="12700">
            <a:solidFill>
              <a:srgbClr val="2232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44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17922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Автоматический CI пайплайн при каждом коммите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233172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450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tests/sgp4.test.ts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2697480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152236"/>
          </a:solidFill>
          <a:ln w="10160">
            <a:solidFill>
              <a:srgbClr val="00D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6974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ТЕСТОВ • PASS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85800" y="29718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Валидация вычисления координат МКС по реальным TLE строкам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Проверка устойчивости к сингулярностям и нулевым интервалам времени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Контроль геодезических высот (400–430 км) и широт [-90°, +90°]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Точность орбитальной скорости (~7.66 км/с)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233172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2450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tests/tle.test.ts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2697480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15223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6974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ТЕСТОВ • PASS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429000" y="29718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Парсинг стандартных двухстрочных наборов TLE NASA/NORAD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Расчет контрольной суммы по алгоритму Checksum Modulo-10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Генерация типизированных исключений TLEParseError при сбоях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Корректная обработка пробелов, символов переноса и спецзнаков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35040" y="233172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450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tests/storage.test.ts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2200" y="2697480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15223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6974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ТЕСТА • PASS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72200" y="29718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Кэширование TLE-каталогов в браузере (LocalStorage)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Обработка исключения переполнения квоты QuotaExceededError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Автоматический fallback на встроенный оффлайн-датасет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КАЧЕСТВА КОДА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Измерение ключевых метрик качества ПО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фактических показателей OrbitWatch с целевыми нормативами (День 12)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10 / 15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645920"/>
                <a:gridCol w="2011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D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Категория / Метрика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 в OrbitWatch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Целевой норматив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Статус / Заключение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Общий объем кода (LOC)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~4 800 строк TS/TSX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Оптимальный для MVP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Сбалансированная кодовая база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Средняя длина функций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строки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50 строк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Высокая читаемость и модульность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Цикломатическая сложность V(G)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Максимум 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Отсутствие запутанных ветвлений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Покрытие критических путей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(22 теста)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Полное баллистическое покрытие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Частота кадров рендеринга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FPS стабильно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60 FPS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Плавная аппаратная анимация WebGL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Lighthouse Performance 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 из 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Мгновенная загрузка и отклик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«Магические числа» в коде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(все в константах)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Устранено по чек-листу Дня 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9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РАЗРАБОТКОЙ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разработки и модель ветвления Git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15-дневный производственный цикл и релизная модель версионирования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11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4389120" cy="3154680"/>
          </a:xfrm>
          <a:prstGeom prst="roundRect">
            <a:avLst>
              <a:gd name="adj" fmla="val 2899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08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15-ДНЕВНЫЙ ПЛАН ПРАКТИКИ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182880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 w="12700">
            <a:solidFill>
              <a:srgbClr val="20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87452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Дни 1–3 • Проектирование и требования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20391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Формулирование ТЗ, сбор требований, баллистическая спецификация, UI/UX макеты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31520" y="2359152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 w="12700">
            <a:solidFill>
              <a:srgbClr val="20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40487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Дни 4–6 • 3D-движок и баллистика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256946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Земли Three.js, интеграция CelesTrak, баллистический калькулятор SGP4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31520" y="2889504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 w="12700">
            <a:solidFill>
              <a:srgbClr val="20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93522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Дни 7–9 • Отказоустойчивость и ошибки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30998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Иерархия исключений, оффлайн-кэш, интеграционное тестирование подсистем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3419856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 w="12700">
            <a:solidFill>
              <a:srgbClr val="20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46557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Дни 10–12 • Тестирование и метрики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36301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 автотестов Vitest (22 теста), устранение магических чисел, метрики качества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31520" y="3950208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41E31"/>
          </a:solidFill>
          <a:ln w="12700">
            <a:solidFill>
              <a:srgbClr val="20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99592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Дни 13–15 • Git Flow, релиз и защита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" y="41605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ветвления, тег v1.0.0, полный комплект документации, презентация и защита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120640" y="1371600"/>
            <a:ext cx="3474720" cy="3154680"/>
          </a:xfrm>
          <a:prstGeom prst="roundRect">
            <a:avLst>
              <a:gd name="adj" fmla="val 2899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1508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ВЕТВЛЕНИЯ GIT FLOW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03520" y="182880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0160">
            <a:solidFill>
              <a:srgbClr val="2232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188366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Ветка: main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40680" y="20665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Стабильная ветка проекта. Содержит релизный тег v1.0.0, готовый к развертыванию.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303520" y="246888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0160">
            <a:solidFill>
              <a:srgbClr val="2232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252374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Ветка: feature/*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40680" y="270662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Изолированные ветки для новой функциональности (feature/sgp4, feature/missions).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303520" y="310896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0160">
            <a:solidFill>
              <a:srgbClr val="2232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316382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Ветка: bugfix/*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40680" y="33467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Ветки устранения дефектов и оптимизации (bugfix/render-depth, bugfix/tle-checksum).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303520" y="374904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0160">
            <a:solidFill>
              <a:srgbClr val="2232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380390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Ветка: release/v1.0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40680" y="39867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Финальная стабилизация, проверка документации и генерация презентационных материалов.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ИНЖЕНЕРНЫЕ РЕШЕНИЯ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инженерные вызовы и их решения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Преодоление технических сложностей в процессе проектирования и оптимизации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12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527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нагрузка при отрисовке сотен орбит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783080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Падение FPS при постоянном создании новых полигональных линий для 200+ спутников.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Использование буферизованных геометрий BufferGeometry и предварительный расчет орбитальных точек без пересоздания объектов сцены в цикле анимации.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27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Нестабильность внешнего API CelesTrak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Ограничения CORS, сетевые задержки и периодическая недоступность стороннего каталога.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Трехуровневая архитектура: Express Backend Proxy -&gt; LocalStorage кэш -&gt; встроенный оффлайн-набор TLE. Приложение сохраняет 100% работоспособность без сети.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186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Переполнение квоты браузерного хранилища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474720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Ошибка DOMException (QuotaExceededError) при сохранении объемных каталогов TLE.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Разработан перехватчик с автоматической очисткой устаревших записей, сжатием структуры хранения и fallback-режимом работы в оперативной памяти.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186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Сложность расчета солнечного терминатора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Необходимость физически точной ориентации границы дня и ночи на Земле по дате и времени.
</a:t>
            </a:r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Математический модуль astronomy.ts с расчетом эклиптических координат Солнца и положения источника света для реалистичной смены суток.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ДОКУМЕНТИРОВАНИЕ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Комплект проектной документации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Исчерпывающий набор документов для пользователей, инженеров и приемочной комиссии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13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5270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Руководство пользователя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7647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docs/user-guide.md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9659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Иллюстрированное руководство по всем 3 ролям, управлению 3D-камерой, поиску спутников и чтению телеметрии.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5270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 Руководство по установке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17647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docs/install-guide.md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Инструкция для системного администратора по развертыванию в Node.js, PM2, Docker и конфигурированию Nginx.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5270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Протокол инспекции кода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17647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docs/inspection-report.md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72200" y="19659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Чек-лист инспекции кодовой базы, реестр несоответствий NC-01...NC-08 и протокол их полного устранения.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1729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Отчет о метриках качества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4107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docs/quality-metrics.md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Сводные таблицы измерений LOC, цикломатической сложности, скорости загрузки и покрытия тестами.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1729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 Стратегия ветвления Git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29000" y="34107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docs/git-strategy.md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29000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 ветвления Git Flow, правила Conventional Commits и версионирование релизов.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1729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Дневники практики (Дни 1–15)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34107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docs/practice-diary-day-*.md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72200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Почасовой учет трудозатрат за каждый день производственной практики с фиксацией достигнутых результатов.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Перспективы развития проекта (OrbitWatch v2.0)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масштабирования функциональности и интеграций в следующей фазе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14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52704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Прогноз радиовидимости (Pass Prediction)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527048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172338"/>
          </a:solidFill>
          <a:ln w="10160">
            <a:solidFill>
              <a:srgbClr val="00D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270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2.1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85800" y="1819656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Расчет точного времени появления спутника в зоне видимости (AOS / LOS)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Вычисление азимута, угла места (Elevation) и максимальной высоты пролета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Определение радиочастот доплеровского сдвига для радиолюбителей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141732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2704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💥  Анализ опасных сближений (Conjunction)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52360" y="1527048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172338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5270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2.2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819656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Автоматический скрининг дистанции между 8 000+ спутниками и мусором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Оповещение о сближениях на дистанции менее 10 км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Визуализация вероятностных эллипсоидов ошибок позиционирования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1868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PWA и мобильный сенсорный режим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218688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17233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2186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2.3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5800" y="3511296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Установка веб-приложения на iOS и Android как автономного PWA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Поддержка сенсорных жестов pinch-to-zoom и гироскопа устройства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Режим дополненной реальности (AR) с наведением камеры смартфона на небо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108960"/>
            <a:ext cx="3886200" cy="1508760"/>
          </a:xfrm>
          <a:prstGeom prst="roundRect">
            <a:avLst>
              <a:gd name="adj" fmla="val 4848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18688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🔭  Аппаратная интеграция с антеннами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3218688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172338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32186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2.4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46320" y="3511296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Экспорт команд поворота по стандартизованным протоколам GS-232 / Hamlib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Автоматическое наведение поворотных антенных мачт за спутником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Прямой захват телеметрии кубсатов (CubeSat) в режиме реального времени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256032"/>
          </a:xfrm>
          <a:prstGeom prst="roundRect">
            <a:avLst>
              <a:gd name="adj" fmla="val 35714"/>
            </a:avLst>
          </a:prstGeom>
          <a:solidFill>
            <a:srgbClr val="16243A"/>
          </a:solidFill>
          <a:ln w="12700">
            <a:solidFill>
              <a:srgbClr val="233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ПРОЕКТА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 и результаты работы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Успешное завершение производственной практики и готовность проекта к защите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1A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• 3D-визуализация космических миссий • Релиз v1.0.0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23360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Шинин Чаян | Группа: ИСП-43 | ТРПО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0" y="47731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Слайд 15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4389120" cy="3154680"/>
          </a:xfrm>
          <a:prstGeom prst="roundRect">
            <a:avLst>
              <a:gd name="adj" fmla="val 2899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08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ИТОГИ ПРОЕКТА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выполнение всех пунктов ТЗ: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Разработано и запущено веб-приложение 3D-визуализации орбитального пространства.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Физически строгая баллистика SGP4: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Точный расчет координат по каталогам TLE в реальном времени с поддержкой Time Warp.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Высочайшие стандарты качества кода: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юнит-теста Vitest (100% PASS), CI GitHub Actions, Lighthouse 98, 0 магических чисел.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Готовность к практической эксплуатации: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комплект документации: User Guide, Install Guide, отчеты и дневники практики.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20640" y="1371600"/>
            <a:ext cx="3474720" cy="3154680"/>
          </a:xfrm>
          <a:prstGeom prst="roundRect">
            <a:avLst>
              <a:gd name="adj" fmla="val 2899"/>
            </a:avLst>
          </a:prstGeom>
          <a:solidFill>
            <a:srgbClr val="111927"/>
          </a:solidFill>
          <a:ln w="12700">
            <a:solidFill>
              <a:srgbClr val="1F2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508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СВЕДЕНИЯ О ЗАЩИТЕ И АВТОРЕ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49240" y="182880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Проект:
</a:t>
            </a:r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OrbitWatch (Релиз v1.0.0)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 работы:
</a:t>
            </a:r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Шинин Чаян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группа:
</a:t>
            </a:r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ИСП-43 (ИСП-401)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Специальность 09.02.07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практики:
</a:t>
            </a:r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Егоров Роман
</a:t>
            </a:r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проекта:
</a:t>
            </a:r>
            <a:pPr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УСПЕШНО ЗАЩИЩЕН И СДАН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49240" y="402336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17283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4023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 Готов к вопросам.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ИСП-43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OrbitWatch — Защита проекта (Шинин Чаян, ИСП-43)</dc:title>
  <dc:subject>Защита проекта OrbitWatch — ТРПО День 15</dc:subject>
  <dc:creator>Шинин Чаян</dc:creator>
  <cp:lastModifiedBy>Шинин Чаян</cp:lastModifiedBy>
  <cp:revision>1</cp:revision>
  <dcterms:created xsi:type="dcterms:W3CDTF">2026-10-09T06:20:16Z</dcterms:created>
  <dcterms:modified xsi:type="dcterms:W3CDTF">2026-10-09T06:20:16Z</dcterms:modified>
</cp:coreProperties>
</file>